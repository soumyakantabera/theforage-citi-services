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222" r:id="rId2"/>
    <p:sldId id="1226" r:id="rId3"/>
    <p:sldId id="1227" r:id="rId4"/>
    <p:sldId id="1228" r:id="rId5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orient="horz" pos="4198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  <p15:guide id="4" orient="horz" pos="3668" userDrawn="1">
          <p15:clr>
            <a:srgbClr val="A4A3A4"/>
          </p15:clr>
        </p15:guide>
        <p15:guide id="5" orient="horz" pos="527" userDrawn="1">
          <p15:clr>
            <a:srgbClr val="A4A3A4"/>
          </p15:clr>
        </p15:guide>
        <p15:guide id="6" pos="7483" userDrawn="1">
          <p15:clr>
            <a:srgbClr val="A4A3A4"/>
          </p15:clr>
        </p15:guide>
        <p15:guide id="7" pos="180" userDrawn="1">
          <p15:clr>
            <a:srgbClr val="A4A3A4"/>
          </p15:clr>
        </p15:guide>
        <p15:guide id="8" pos="2819" userDrawn="1">
          <p15:clr>
            <a:srgbClr val="A4A3A4"/>
          </p15:clr>
        </p15:guide>
        <p15:guide id="9" pos="1935" userDrawn="1">
          <p15:clr>
            <a:srgbClr val="A4A3A4"/>
          </p15:clr>
        </p15:guide>
        <p15:guide id="10" orient="horz" pos="1003" userDrawn="1">
          <p15:clr>
            <a:srgbClr val="A4A3A4"/>
          </p15:clr>
        </p15:guide>
        <p15:guide id="11" orient="horz" pos="3770" userDrawn="1">
          <p15:clr>
            <a:srgbClr val="A4A3A4"/>
          </p15:clr>
        </p15:guide>
        <p15:guide id="12" orient="horz" pos="3374" userDrawn="1">
          <p15:clr>
            <a:srgbClr val="A4A3A4"/>
          </p15:clr>
        </p15:guide>
        <p15:guide id="13" orient="horz" pos="13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D72"/>
    <a:srgbClr val="DA0011"/>
    <a:srgbClr val="E56266"/>
    <a:srgbClr val="890707"/>
    <a:srgbClr val="A3A3A3"/>
    <a:srgbClr val="73B2CB"/>
    <a:srgbClr val="656565"/>
    <a:srgbClr val="858B39"/>
    <a:srgbClr val="18668D"/>
    <a:srgbClr val="9F9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40" autoAdjust="0"/>
    <p:restoredTop sz="95872" autoAdjust="0"/>
  </p:normalViewPr>
  <p:slideViewPr>
    <p:cSldViewPr snapToGrid="0" showGuides="1">
      <p:cViewPr varScale="1">
        <p:scale>
          <a:sx n="82" d="100"/>
          <a:sy n="82" d="100"/>
        </p:scale>
        <p:origin x="1046" y="72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3954" y="84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85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r">
              <a:defRPr sz="1200"/>
            </a:lvl1pPr>
          </a:lstStyle>
          <a:p>
            <a:fld id="{FB3CDEB3-48A8-41CE-A19B-17EB5D1349C3}" type="datetimeFigureOut">
              <a:rPr lang="en-GB" smtClean="0"/>
              <a:t>04/05/2026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85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r">
              <a:defRPr sz="1200"/>
            </a:lvl1pPr>
          </a:lstStyle>
          <a:p>
            <a:fld id="{5D4041B7-2520-49D1-B87B-6BD2905A48B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057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6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305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r">
              <a:defRPr sz="1300"/>
            </a:lvl1pPr>
          </a:lstStyle>
          <a:p>
            <a:fld id="{780701A6-ECA0-419F-B53B-F80675AFC4D8}" type="datetimeFigureOut">
              <a:rPr lang="en-GB" smtClean="0"/>
              <a:pPr/>
              <a:t>04/05/2026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85" tIns="48191" rIns="96385" bIns="48191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</p:spPr>
        <p:txBody>
          <a:bodyPr vert="horz" lIns="96385" tIns="48191" rIns="96385" bIns="4819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6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r">
              <a:defRPr sz="1300"/>
            </a:lvl1pPr>
          </a:lstStyle>
          <a:p>
            <a:fld id="{B88799EA-8ACC-422C-926D-CFAF59BB907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30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00000"/>
            </a:pPr>
            <a:fld id="{5BD0987B-402A-4156-A751-9C8439DDA60C}" type="slidenum">
              <a:rPr lang="en-GB" altLang="en-US" sz="1400" smtClean="0">
                <a:solidFill>
                  <a:srgbClr val="000000"/>
                </a:solidFill>
              </a:rPr>
              <a:pPr>
                <a:buSzPct val="100000"/>
              </a:pPr>
              <a:t>1</a:t>
            </a:fld>
            <a:endParaRPr lang="en-GB" altLang="en-US" sz="1400" dirty="0">
              <a:solidFill>
                <a:srgbClr val="000000"/>
              </a:solidFill>
            </a:endParaRPr>
          </a:p>
        </p:txBody>
      </p:sp>
      <p:sp>
        <p:nvSpPr>
          <p:cNvPr id="8195" name="Rectangle 7"/>
          <p:cNvSpPr txBox="1">
            <a:spLocks noGrp="1" noChangeArrowheads="1"/>
          </p:cNvSpPr>
          <p:nvPr/>
        </p:nvSpPr>
        <p:spPr bwMode="auto"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 anchor="b"/>
          <a:lstStyle>
            <a:lvl1pPr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SzPct val="100000"/>
            </a:pPr>
            <a:fld id="{4E6C3CCE-C80A-41F4-8786-DA08ED0AC1E0}" type="slidenum">
              <a:rPr lang="en-GB" altLang="en-US">
                <a:solidFill>
                  <a:srgbClr val="000000"/>
                </a:solidFill>
              </a:rPr>
              <a:pPr algn="r">
                <a:buSzPct val="100000"/>
              </a:pPr>
              <a:t>1</a:t>
            </a:fld>
            <a:endParaRPr lang="en-GB" altLang="en-US" dirty="0">
              <a:solidFill>
                <a:srgbClr val="000000"/>
              </a:solidFill>
            </a:endParaRPr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9300"/>
            <a:ext cx="6623050" cy="3725863"/>
          </a:xfrm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0641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05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83197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29" name="Pentagon 28"/>
            <p:cNvSpPr/>
            <p:nvPr userDrawn="1"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30" name="Pentagon 6"/>
            <p:cNvSpPr/>
            <p:nvPr userDrawn="1"/>
          </p:nvSpPr>
          <p:spPr>
            <a:xfrm rot="10800000">
              <a:off x="774827" y="1382939"/>
              <a:ext cx="6439450" cy="430678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19436 w 8064578"/>
                <a:gd name="connsiteY2" fmla="*/ 15451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597148 w 8661698"/>
                <a:gd name="connsiteY0" fmla="*/ 21922 h 322490"/>
                <a:gd name="connsiteX1" fmla="*/ 8661698 w 8661698"/>
                <a:gd name="connsiteY1" fmla="*/ 22803 h 322490"/>
                <a:gd name="connsiteX2" fmla="*/ 8516556 w 8661698"/>
                <a:gd name="connsiteY2" fmla="*/ 176435 h 322490"/>
                <a:gd name="connsiteX3" fmla="*/ 8661698 w 8661698"/>
                <a:gd name="connsiteY3" fmla="*/ 322490 h 322490"/>
                <a:gd name="connsiteX4" fmla="*/ 597120 w 8661698"/>
                <a:gd name="connsiteY4" fmla="*/ 320945 h 322490"/>
                <a:gd name="connsiteX5" fmla="*/ 597148 w 8661698"/>
                <a:gd name="connsiteY5" fmla="*/ 21922 h 322490"/>
                <a:gd name="connsiteX0" fmla="*/ 28 w 8064578"/>
                <a:gd name="connsiteY0" fmla="*/ 21922 h 322490"/>
                <a:gd name="connsiteX1" fmla="*/ 8064578 w 8064578"/>
                <a:gd name="connsiteY1" fmla="*/ 22803 h 322490"/>
                <a:gd name="connsiteX2" fmla="*/ 7919436 w 8064578"/>
                <a:gd name="connsiteY2" fmla="*/ 176435 h 322490"/>
                <a:gd name="connsiteX3" fmla="*/ 8064578 w 8064578"/>
                <a:gd name="connsiteY3" fmla="*/ 322490 h 322490"/>
                <a:gd name="connsiteX4" fmla="*/ 0 w 8064578"/>
                <a:gd name="connsiteY4" fmla="*/ 320945 h 322490"/>
                <a:gd name="connsiteX5" fmla="*/ 28 w 8064578"/>
                <a:gd name="connsiteY5" fmla="*/ 21922 h 322490"/>
                <a:gd name="connsiteX0" fmla="*/ 28 w 8064578"/>
                <a:gd name="connsiteY0" fmla="*/ 246 h 300814"/>
                <a:gd name="connsiteX1" fmla="*/ 8064578 w 8064578"/>
                <a:gd name="connsiteY1" fmla="*/ 1127 h 300814"/>
                <a:gd name="connsiteX2" fmla="*/ 7919436 w 8064578"/>
                <a:gd name="connsiteY2" fmla="*/ 154759 h 300814"/>
                <a:gd name="connsiteX3" fmla="*/ 8064578 w 8064578"/>
                <a:gd name="connsiteY3" fmla="*/ 300814 h 300814"/>
                <a:gd name="connsiteX4" fmla="*/ 0 w 8064578"/>
                <a:gd name="connsiteY4" fmla="*/ 299269 h 300814"/>
                <a:gd name="connsiteX5" fmla="*/ 28 w 8064578"/>
                <a:gd name="connsiteY5" fmla="*/ 246 h 300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814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cxnSp>
        <p:nvCxnSpPr>
          <p:cNvPr id="15" name="Straight Connector 14"/>
          <p:cNvCxnSpPr/>
          <p:nvPr userDrawn="1"/>
        </p:nvCxnSpPr>
        <p:spPr>
          <a:xfrm>
            <a:off x="271951" y="3152910"/>
            <a:ext cx="78430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utoShape 3"/>
          <p:cNvSpPr>
            <a:spLocks noChangeAspect="1" noChangeArrowheads="1" noTextEdit="1"/>
          </p:cNvSpPr>
          <p:nvPr userDrawn="1"/>
        </p:nvSpPr>
        <p:spPr bwMode="auto"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0" name="Freeform 5"/>
            <p:cNvSpPr>
              <a:spLocks/>
            </p:cNvSpPr>
            <p:nvPr userDrawn="1"/>
          </p:nvSpPr>
          <p:spPr bwMode="auto">
            <a:xfrm>
              <a:off x="-540381" y="5887508"/>
              <a:ext cx="8074126" cy="46038"/>
            </a:xfrm>
            <a:custGeom>
              <a:avLst/>
              <a:gdLst>
                <a:gd name="T0" fmla="*/ 0 w 7638"/>
                <a:gd name="T1" fmla="*/ 0 w 7638"/>
                <a:gd name="T2" fmla="*/ 7638 w 763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38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88" cap="flat">
              <a:solidFill>
                <a:srgbClr val="63666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6"/>
            <p:cNvSpPr>
              <a:spLocks/>
            </p:cNvSpPr>
            <p:nvPr userDrawn="1"/>
          </p:nvSpPr>
          <p:spPr bwMode="auto">
            <a:xfrm>
              <a:off x="7639574" y="5887827"/>
              <a:ext cx="1277774" cy="45719"/>
            </a:xfrm>
            <a:custGeom>
              <a:avLst/>
              <a:gdLst>
                <a:gd name="T0" fmla="*/ 0 w 1357"/>
                <a:gd name="T1" fmla="*/ 0 w 1357"/>
                <a:gd name="T2" fmla="*/ 1357 w 135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357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88" cap="flat">
              <a:solidFill>
                <a:srgbClr val="002D7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solidFill>
                  <a:srgbClr val="002D72"/>
                </a:solidFill>
              </a:endParaRPr>
            </a:p>
          </p:txBody>
        </p:sp>
      </p:grpSp>
      <p:sp>
        <p:nvSpPr>
          <p:cNvPr id="22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8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20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90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36439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3" name="Pentagon 12"/>
            <p:cNvSpPr/>
            <p:nvPr userDrawn="1"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5" name="Pentagon 6"/>
            <p:cNvSpPr/>
            <p:nvPr userDrawn="1"/>
          </p:nvSpPr>
          <p:spPr>
            <a:xfrm rot="10800000">
              <a:off x="781049" y="1382736"/>
              <a:ext cx="8853488" cy="458544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568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796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1800" b="1" kern="120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1pPr>
      <a:lvl2pPr marL="180975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2pPr>
      <a:lvl3pPr marL="355600" indent="-17462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3pPr>
      <a:lvl4pPr marL="539750" indent="-1841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4pPr>
      <a:lvl5pPr marL="719138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8500" y="3292242"/>
            <a:ext cx="11560600" cy="1538883"/>
          </a:xfrm>
        </p:spPr>
        <p:txBody>
          <a:bodyPr>
            <a:normAutofit/>
          </a:bodyPr>
          <a:lstStyle/>
          <a:p>
            <a:pPr algn="r"/>
            <a:r>
              <a:rPr lang="en-US" sz="2800" b="1">
                <a:solidFill>
                  <a:srgbClr val="002D72"/>
                </a:solidFill>
                <a:latin typeface="Arial"/>
              </a:rPr>
              <a:t>Citi FranchiseFlex Card | Treasury and Trade Solutions | May 2026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9183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419" y="1348762"/>
            <a:ext cx="9581161" cy="4650822"/>
          </a:xfrm>
        </p:spPr>
        <p:txBody>
          <a:bodyPr>
            <a:normAutofit/>
          </a:bodyPr>
          <a:lstStyle/>
          <a:p>
            <a:pPr marL="0" lvl="1">
              <a:spcAft>
                <a:spcPts val="600"/>
              </a:spcAft>
            </a:pPr>
            <a:r>
              <a:rPr lang="en-GB" sz="2000" b="1" dirty="0">
                <a:solidFill>
                  <a:srgbClr val="002D72"/>
                </a:solidFill>
              </a:rPr>
              <a:t>Product Design: Hybrid physical + virtual commercial card for regional managers enabling instant ad-hoc payments (supplies, travel, training) with auto-reconciliation to head office.</a:t>
            </a:r>
            <a:br>
              <a:rPr lang="en" dirty="0"/>
            </a:br>
            <a:br>
              <a:rPr lang="en" dirty="0"/>
            </a:br>
            <a:r>
              <a:rPr lang="en-GB" sz="2000" b="1" dirty="0">
                <a:solidFill>
                  <a:srgbClr val="002D72"/>
                </a:solidFill>
              </a:rPr>
              <a:t>Product Offering: Real-time expense tracking via mobile app with OCR receipts, automated P&amp;L sync – fully replaces cash/check reimbursement process, eliminating delays, typos, fraud &amp; postage costs.</a:t>
            </a:r>
            <a:br>
              <a:rPr lang="en" dirty="0"/>
            </a:br>
            <a:br>
              <a:rPr lang="en" dirty="0"/>
            </a:br>
            <a:r>
              <a:rPr lang="en-GB" sz="2000" b="1" dirty="0">
                <a:solidFill>
                  <a:srgbClr val="002D72"/>
                </a:solidFill>
              </a:rPr>
              <a:t/>
            </a:r>
            <a:br>
              <a:rPr lang="en" dirty="0"/>
            </a:br>
            <a:br>
              <a:rPr lang="en" dirty="0"/>
            </a:br>
            <a:r>
              <a:rPr lang="en-GB" sz="2000" b="1" dirty="0">
                <a:solidFill>
                  <a:srgbClr val="002D72"/>
                </a:solidFill>
              </a:rPr>
              <a:t>Smart Card: EMV contactless + virtual cards for secure supplier payments. Tokenization, spend alerts &amp; biometric options minimize risk.</a:t>
            </a:r>
            <a:br>
              <a:rPr lang="en" dirty="0"/>
            </a:br>
            <a:br>
              <a:rPr lang="en" dirty="0"/>
            </a:br>
            <a:r>
              <a:rPr lang="en-GB" sz="2000" b="1" dirty="0">
                <a:solidFill>
                  <a:srgbClr val="002D72"/>
                </a:solidFill>
              </a:rPr>
              <a:t>Currency: USD-native with multi-currency support (GBP/EUR, zero FX markup) – future-proof for international rollout.</a:t>
            </a:r>
            <a:endParaRPr lang="e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20D7A-9DAB-5332-F1CF-C251D38E8E16}"/>
              </a:ext>
            </a:extLst>
          </p:cNvPr>
          <p:cNvSpPr txBox="1"/>
          <p:nvPr/>
        </p:nvSpPr>
        <p:spPr>
          <a:xfrm>
            <a:off x="535194" y="3233233"/>
            <a:ext cx="11415699" cy="1815882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lvl="1">
              <a:spcAft>
                <a:spcPts val="600"/>
              </a:spcAft>
            </a:pPr>
            <a:endParaRPr/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/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/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/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141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Citi FranchiseFlex Card – Salient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56016-9032-0181-B801-17E9391FE8BC}"/>
              </a:ext>
            </a:extLst>
          </p:cNvPr>
          <p:cNvSpPr txBox="1"/>
          <p:nvPr/>
        </p:nvSpPr>
        <p:spPr>
          <a:xfrm>
            <a:off x="570585" y="1408061"/>
            <a:ext cx="11308677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Reporting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Real-time dashboards with automated P&amp;L updates &amp; exception reporting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Mobile OCR receipt capture with instant matching to card transactions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Controls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Custom spending limits, merchant blocks &amp; dual-approval workflows per regional manager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AI-powered fraud detection, geofencing around store locations &amp; instant card freeze via app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No more cash floats or check reimbursements – direct card settlement eliminates delays &amp; errors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Accessibility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Can be accessed through:</a:t>
            </a:r>
          </a:p>
          <a:p>
            <a:pPr marL="1257300" lvl="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Mobile app (iOS/Android) for receipts &amp; approvals; web portal &amp; ERP API for HQ</a:t>
            </a:r>
          </a:p>
          <a:p>
            <a:pPr marL="1257300" lvl="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Physical contactless card, virtual cards for suppliers, &amp; secure tokenization</a:t>
            </a:r>
          </a:p>
          <a:p>
            <a:pPr marL="1257300" lvl="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24/7 concierge support &amp; dedicated account manager for franchise chains</a:t>
            </a:r>
          </a:p>
        </p:txBody>
      </p:sp>
    </p:spTree>
    <p:extLst>
      <p:ext uri="{BB962C8B-B14F-4D97-AF65-F5344CB8AC3E}">
        <p14:creationId xmlns:p14="http://schemas.microsoft.com/office/powerpoint/2010/main" val="197471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E35683-0E9E-4C2E-6923-8F852C12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Citi FranchiseFlex Card – Salient features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C6250-B49E-8897-FEFF-2E5BE89E7B23}"/>
              </a:ext>
            </a:extLst>
          </p:cNvPr>
          <p:cNvSpPr txBox="1"/>
          <p:nvPr/>
        </p:nvSpPr>
        <p:spPr>
          <a:xfrm>
            <a:off x="570585" y="1408061"/>
            <a:ext cx="11308677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Charges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$0 annual fee for first 100 cards (franchise launch pricing); 0% domestic transaction fees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1% FX fee on international (waived first $50k/year); no fixed per-transaction fees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Virtual card issuance: $5 each (bulk discount to $2 for 50+ cards); standard commercial terms apply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Replaces costly check processing/postage (~$15-25 per reimbursement) with near-zero marginal cost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Target Customers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• QSR &amp; retail franchises with 20-500 locations and regional field teams (e.g., Joe's 50-store chicken chain scaling to 100+ with UK/EU expansion)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Promotions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• Sign-up by July 31, 2026: 6 months $0 fee + $1,000 onboarding credit + free ERP integration &amp; training for up to 5 managers. Double rewards on all spend for 90 days.</a:t>
            </a:r>
            <a:endParaRPr lang="en-GB" dirty="0">
              <a:solidFill>
                <a:srgbClr val="002D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08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0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70946</TotalTime>
  <Words>420</Words>
  <Application>Microsoft Office PowerPoint</Application>
  <PresentationFormat>Widescreen</PresentationFormat>
  <Paragraphs>32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Amplitude Light</vt:lpstr>
      <vt:lpstr>Arial</vt:lpstr>
      <vt:lpstr>Calibri</vt:lpstr>
      <vt:lpstr>Office Theme</vt:lpstr>
      <vt:lpstr>PowerPoint Presentation</vt:lpstr>
      <vt:lpstr>Product Design: Hybrid physical + virtual commercial card for regional managers enabling instant ad-hoc payments (supplies, travel, training) with auto-reconciliation to head office.  Product Offering: Real-time expense tracking via mobile app with OCR receipts, automated P&amp;L sync – fully replaces cash/check reimbursement process, eliminating delays, typos, fraud &amp; postage costs.  $80M turnover  Smart Card: EMV contactless + virtual cards for secure supplier payments. Tokenization, spend alerts &amp; biometric options minimize risk.  Currency: USD-native with multi-currency support (GBP/EUR, zero FX markup) – future-proof for international rollout.</vt:lpstr>
      <vt:lpstr>Citi FranchiseFlex Card – Salient features</vt:lpstr>
      <vt:lpstr>Citi FranchiseFlex Card – Salient features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Soumyakanta Bera</cp:lastModifiedBy>
  <cp:revision>7</cp:revision>
  <cp:lastPrinted>2017-10-03T14:47:21Z</cp:lastPrinted>
  <dcterms:created xsi:type="dcterms:W3CDTF">2015-07-20T16:22:45Z</dcterms:created>
  <dcterms:modified xsi:type="dcterms:W3CDTF">2026-05-04T14:00:11Z</dcterms:modified>
</cp:coreProperties>
</file>