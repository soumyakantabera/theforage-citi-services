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222" r:id="rId2"/>
    <p:sldId id="1228" r:id="rId3"/>
    <p:sldId id="1227" r:id="rId4"/>
    <p:sldId id="1234" r:id="rId5"/>
    <p:sldId id="1236" r:id="rId6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419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3668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  <p15:guide id="6" pos="7483" userDrawn="1">
          <p15:clr>
            <a:srgbClr val="A4A3A4"/>
          </p15:clr>
        </p15:guide>
        <p15:guide id="7" pos="180" userDrawn="1">
          <p15:clr>
            <a:srgbClr val="A4A3A4"/>
          </p15:clr>
        </p15:guide>
        <p15:guide id="8" pos="2819" userDrawn="1">
          <p15:clr>
            <a:srgbClr val="A4A3A4"/>
          </p15:clr>
        </p15:guide>
        <p15:guide id="9" pos="1935" userDrawn="1">
          <p15:clr>
            <a:srgbClr val="A4A3A4"/>
          </p15:clr>
        </p15:guide>
        <p15:guide id="10" orient="horz" pos="1003" userDrawn="1">
          <p15:clr>
            <a:srgbClr val="A4A3A4"/>
          </p15:clr>
        </p15:guide>
        <p15:guide id="11" orient="horz" pos="3770" userDrawn="1">
          <p15:clr>
            <a:srgbClr val="A4A3A4"/>
          </p15:clr>
        </p15:guide>
        <p15:guide id="12" orient="horz" pos="3374" userDrawn="1">
          <p15:clr>
            <a:srgbClr val="A4A3A4"/>
          </p15:clr>
        </p15:guide>
        <p15:guide id="13" orient="horz" pos="1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DA0011"/>
    <a:srgbClr val="E56266"/>
    <a:srgbClr val="890707"/>
    <a:srgbClr val="A3A3A3"/>
    <a:srgbClr val="73B2CB"/>
    <a:srgbClr val="656565"/>
    <a:srgbClr val="858B39"/>
    <a:srgbClr val="18668D"/>
    <a:srgbClr val="9F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40" autoAdjust="0"/>
    <p:restoredTop sz="95890" autoAdjust="0"/>
  </p:normalViewPr>
  <p:slideViewPr>
    <p:cSldViewPr snapToGrid="0" showGuides="1">
      <p:cViewPr varScale="1">
        <p:scale>
          <a:sx n="124" d="100"/>
          <a:sy n="124" d="100"/>
        </p:scale>
        <p:origin x="544" y="168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 ($)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Client 10</c:v>
                </c:pt>
                <c:pt idx="1">
                  <c:v>Client 3</c:v>
                </c:pt>
                <c:pt idx="2">
                  <c:v>Client 2</c:v>
                </c:pt>
                <c:pt idx="3">
                  <c:v>Client 6</c:v>
                </c:pt>
                <c:pt idx="4">
                  <c:v>Client 4</c:v>
                </c:pt>
                <c:pt idx="5">
                  <c:v>Client 5</c:v>
                </c:pt>
                <c:pt idx="6">
                  <c:v>Client 1</c:v>
                </c:pt>
                <c:pt idx="7">
                  <c:v>Client 8</c:v>
                </c:pt>
                <c:pt idx="8">
                  <c:v>Client 9</c:v>
                </c:pt>
                <c:pt idx="9">
                  <c:v>Client 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24594925</c:v>
                </c:pt>
                <c:pt idx="1">
                  <c:v>19055165</c:v>
                </c:pt>
                <c:pt idx="2">
                  <c:v>19053100</c:v>
                </c:pt>
                <c:pt idx="3">
                  <c:v>12726940</c:v>
                </c:pt>
                <c:pt idx="4">
                  <c:v>11487957</c:v>
                </c:pt>
                <c:pt idx="5">
                  <c:v>11705801</c:v>
                </c:pt>
                <c:pt idx="6">
                  <c:v>6376196</c:v>
                </c:pt>
                <c:pt idx="7">
                  <c:v>6863255</c:v>
                </c:pt>
                <c:pt idx="8">
                  <c:v>6376533</c:v>
                </c:pt>
                <c:pt idx="9">
                  <c:v>5910459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Volume ($)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Online</c:v>
                </c:pt>
                <c:pt idx="2">
                  <c:v>Bank Transfer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63069448</c:v>
                </c:pt>
                <c:pt idx="1">
                  <c:v>40697439</c:v>
                </c:pt>
                <c:pt idx="2">
                  <c:v>20383444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Domestic Fee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Citi Solo</c:v>
                </c:pt>
                <c:pt idx="1">
                  <c:v>Competitor A</c:v>
                </c:pt>
                <c:pt idx="2">
                  <c:v>Competitor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1.0</c:v>
                </c:pt>
                <c:pt idx="2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Overseas Fee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Citi Solo</c:v>
                </c:pt>
                <c:pt idx="1">
                  <c:v>Competitor A</c:v>
                </c:pt>
                <c:pt idx="2">
                  <c:v>Competitor 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</c:v>
                </c:pt>
                <c:pt idx="1">
                  <c:v>5.0</c:v>
                </c:pt>
                <c:pt idx="2">
                  <c:v>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85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r">
              <a:defRPr sz="1200"/>
            </a:lvl1pPr>
          </a:lstStyle>
          <a:p>
            <a:fld id="{FB3CDEB3-48A8-41CE-A19B-17EB5D1349C3}" type="datetimeFigureOut">
              <a:rPr lang="en-GB" smtClean="0"/>
              <a:t>17/03/2023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85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r">
              <a:defRPr sz="1200"/>
            </a:lvl1pPr>
          </a:lstStyle>
          <a:p>
            <a:fld id="{5D4041B7-2520-49D1-B87B-6BD2905A48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05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6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5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r">
              <a:defRPr sz="1300"/>
            </a:lvl1pPr>
          </a:lstStyle>
          <a:p>
            <a:fld id="{780701A6-ECA0-419F-B53B-F80675AFC4D8}" type="datetimeFigureOut">
              <a:rPr lang="en-GB" smtClean="0"/>
              <a:pPr/>
              <a:t>17/03/2023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85" tIns="48191" rIns="96385" bIns="4819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6385" tIns="48191" rIns="96385" bIns="4819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6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r">
              <a:defRPr sz="1300"/>
            </a:lvl1pPr>
          </a:lstStyle>
          <a:p>
            <a:fld id="{B88799EA-8ACC-422C-926D-CFAF59BB907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00000"/>
            </a:pPr>
            <a:fld id="{5BD0987B-402A-4156-A751-9C8439DDA60C}" type="slidenum">
              <a:rPr lang="en-GB" altLang="en-US" sz="1400" smtClean="0">
                <a:solidFill>
                  <a:srgbClr val="000000"/>
                </a:solidFill>
              </a:rPr>
              <a:pPr>
                <a:buSzPct val="100000"/>
              </a:pPr>
              <a:t>1</a:t>
            </a:fld>
            <a:endParaRPr lang="en-GB" altLang="en-US" sz="1400" dirty="0">
              <a:solidFill>
                <a:srgbClr val="000000"/>
              </a:solidFill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 anchor="b"/>
          <a:lstStyle>
            <a:lvl1pPr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SzPct val="100000"/>
            </a:pPr>
            <a:fld id="{4E6C3CCE-C80A-41F4-8786-DA08ED0AC1E0}" type="slidenum">
              <a:rPr lang="en-GB" altLang="en-US">
                <a:solidFill>
                  <a:srgbClr val="000000"/>
                </a:solidFill>
              </a:rPr>
              <a:pPr algn="r">
                <a:buSzPct val="100000"/>
              </a:pPr>
              <a:t>1</a:t>
            </a:fld>
            <a:endParaRPr lang="en-GB" altLang="en-US" dirty="0">
              <a:solidFill>
                <a:srgbClr val="000000"/>
              </a:solidFill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9300"/>
            <a:ext cx="6623050" cy="3725863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729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2774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774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0801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29" name="Pentagon 28"/>
            <p:cNvSpPr/>
            <p:nvPr userDrawn="1"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30" name="Pentagon 6"/>
            <p:cNvSpPr/>
            <p:nvPr userDrawn="1"/>
          </p:nvSpPr>
          <p:spPr>
            <a:xfrm rot="10800000">
              <a:off x="774827" y="1382939"/>
              <a:ext cx="6439450" cy="430678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19436 w 8064578"/>
                <a:gd name="connsiteY2" fmla="*/ 15451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597148 w 8661698"/>
                <a:gd name="connsiteY0" fmla="*/ 21922 h 322490"/>
                <a:gd name="connsiteX1" fmla="*/ 8661698 w 8661698"/>
                <a:gd name="connsiteY1" fmla="*/ 22803 h 322490"/>
                <a:gd name="connsiteX2" fmla="*/ 8516556 w 8661698"/>
                <a:gd name="connsiteY2" fmla="*/ 176435 h 322490"/>
                <a:gd name="connsiteX3" fmla="*/ 8661698 w 8661698"/>
                <a:gd name="connsiteY3" fmla="*/ 322490 h 322490"/>
                <a:gd name="connsiteX4" fmla="*/ 597120 w 8661698"/>
                <a:gd name="connsiteY4" fmla="*/ 320945 h 322490"/>
                <a:gd name="connsiteX5" fmla="*/ 597148 w 8661698"/>
                <a:gd name="connsiteY5" fmla="*/ 21922 h 322490"/>
                <a:gd name="connsiteX0" fmla="*/ 28 w 8064578"/>
                <a:gd name="connsiteY0" fmla="*/ 21922 h 322490"/>
                <a:gd name="connsiteX1" fmla="*/ 8064578 w 8064578"/>
                <a:gd name="connsiteY1" fmla="*/ 22803 h 322490"/>
                <a:gd name="connsiteX2" fmla="*/ 7919436 w 8064578"/>
                <a:gd name="connsiteY2" fmla="*/ 176435 h 322490"/>
                <a:gd name="connsiteX3" fmla="*/ 8064578 w 8064578"/>
                <a:gd name="connsiteY3" fmla="*/ 322490 h 322490"/>
                <a:gd name="connsiteX4" fmla="*/ 0 w 8064578"/>
                <a:gd name="connsiteY4" fmla="*/ 320945 h 322490"/>
                <a:gd name="connsiteX5" fmla="*/ 28 w 8064578"/>
                <a:gd name="connsiteY5" fmla="*/ 21922 h 322490"/>
                <a:gd name="connsiteX0" fmla="*/ 28 w 8064578"/>
                <a:gd name="connsiteY0" fmla="*/ 246 h 300814"/>
                <a:gd name="connsiteX1" fmla="*/ 8064578 w 8064578"/>
                <a:gd name="connsiteY1" fmla="*/ 1127 h 300814"/>
                <a:gd name="connsiteX2" fmla="*/ 7919436 w 8064578"/>
                <a:gd name="connsiteY2" fmla="*/ 154759 h 300814"/>
                <a:gd name="connsiteX3" fmla="*/ 8064578 w 8064578"/>
                <a:gd name="connsiteY3" fmla="*/ 300814 h 300814"/>
                <a:gd name="connsiteX4" fmla="*/ 0 w 8064578"/>
                <a:gd name="connsiteY4" fmla="*/ 299269 h 300814"/>
                <a:gd name="connsiteX5" fmla="*/ 28 w 8064578"/>
                <a:gd name="connsiteY5" fmla="*/ 246 h 300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814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cxnSp>
        <p:nvCxnSpPr>
          <p:cNvPr id="15" name="Straight Connector 14"/>
          <p:cNvCxnSpPr/>
          <p:nvPr userDrawn="1"/>
        </p:nvCxnSpPr>
        <p:spPr>
          <a:xfrm>
            <a:off x="271951" y="3152910"/>
            <a:ext cx="78430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"/>
          <p:cNvSpPr>
            <a:spLocks noChangeAspect="1" noChangeArrowheads="1" noTextEdit="1"/>
          </p:cNvSpPr>
          <p:nvPr userDrawn="1"/>
        </p:nvSpPr>
        <p:spPr bwMode="auto"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-540381" y="5887508"/>
              <a:ext cx="8074126" cy="46038"/>
            </a:xfrm>
            <a:custGeom>
              <a:avLst/>
              <a:gdLst>
                <a:gd name="T0" fmla="*/ 0 w 7638"/>
                <a:gd name="T1" fmla="*/ 0 w 7638"/>
                <a:gd name="T2" fmla="*/ 7638 w 76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88" cap="flat">
              <a:solidFill>
                <a:srgbClr val="63666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6"/>
            <p:cNvSpPr>
              <a:spLocks/>
            </p:cNvSpPr>
            <p:nvPr userDrawn="1"/>
          </p:nvSpPr>
          <p:spPr bwMode="auto">
            <a:xfrm>
              <a:off x="7639574" y="5887827"/>
              <a:ext cx="1277774" cy="45719"/>
            </a:xfrm>
            <a:custGeom>
              <a:avLst/>
              <a:gdLst>
                <a:gd name="T0" fmla="*/ 0 w 1357"/>
                <a:gd name="T1" fmla="*/ 0 w 1357"/>
                <a:gd name="T2" fmla="*/ 1357 w 1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88" cap="flat">
              <a:solidFill>
                <a:srgbClr val="002D7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002D72"/>
                </a:solidFill>
              </a:endParaRPr>
            </a:p>
          </p:txBody>
        </p:sp>
      </p:grpSp>
      <p:sp>
        <p:nvSpPr>
          <p:cNvPr id="22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8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20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90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64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3" name="Pentagon 12"/>
            <p:cNvSpPr/>
            <p:nvPr userDrawn="1"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5" name="Pentagon 6"/>
            <p:cNvSpPr/>
            <p:nvPr userDrawn="1"/>
          </p:nvSpPr>
          <p:spPr>
            <a:xfrm rot="10800000">
              <a:off x="781049" y="1382736"/>
              <a:ext cx="8853488" cy="458544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56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96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1pPr>
      <a:lvl2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2pPr>
      <a:lvl3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3pPr>
      <a:lvl4pPr marL="539750" indent="-1841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4pPr>
      <a:lvl5pPr marL="719138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11560600" cy="1815882"/>
          </a:xfrm>
        </p:spPr>
        <p:txBody>
          <a:bodyPr/>
          <a:lstStyle/>
          <a:p>
            <a:pPr algn="ctr">
              <a:defRPr sz="2800" b="1">
                <a:solidFill>
                  <a:srgbClr val="002D72"/>
                </a:solidFill>
                <a:latin typeface="Calibri"/>
              </a:defRPr>
            </a:pPr>
            <a:r>
              <a:t>Yoyo Card's 12-Month Journey</a:t>
            </a:r>
          </a:p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Treasury and Trade Solutions</a:t>
            </a:r>
          </a:p>
          <a:p>
            <a:pPr algn="ctr">
              <a:defRPr sz="1200">
                <a:solidFill>
                  <a:srgbClr val="002D72"/>
                </a:solidFill>
                <a:latin typeface="Calibri"/>
              </a:defRPr>
            </a:pPr>
            <a:r>
              <a:t>Senior Leadership Briefing | May 2026</a:t>
            </a:r>
          </a:p>
        </p:txBody>
      </p:sp>
    </p:spTree>
    <p:extLst>
      <p:ext uri="{BB962C8B-B14F-4D97-AF65-F5344CB8AC3E}">
        <p14:creationId xmlns:p14="http://schemas.microsoft.com/office/powerpoint/2010/main" val="4291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1800" b="1">
                <a:solidFill>
                  <a:srgbClr val="002D72"/>
                </a:solidFill>
              </a:defRPr>
            </a:pPr>
            <a:r>
              <a:rPr lang="en-US" sz="2000" dirty="0"/>
              <a:t>Yoyo Card – Corporate Transaction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274320" y="822960"/>
            <a:ext cx="4846320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The following insights were derived from 5,000 corporate transactions ($124.15M volume) made over the last year:</a:t>
            </a:r>
            <a:endParaRPr lang="en-GB" b="1" dirty="0">
              <a:solidFill>
                <a:srgbClr val="002D72"/>
              </a:solidFill>
            </a:endParaRP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Clientele – 10 active clients. Top 3 (Clients 10, 3 &amp; 2) = 47% of $124.15M volume. Client 10: 972 txns / $24.6M (largest).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Transactions – 5,000 total, avg $24,830. Strong Q2/Q4 peaks (Jun: 1,274 txns / $31.5M).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Region – Local 76% volume ($92.9M, low margin); Overseas 24% ($31.2M, 3x fee rate – growth opportunity).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Payment Mode – Cash 51% volume ($63.1M) but $0 fees (monetization gap); Online 33%, Bank Transfer 16%.</a:t>
            </a:r>
            <a:r>
              <a:rPr lang="en-GB" dirty="0">
                <a:solidFill>
                  <a:srgbClr val="002D72"/>
                </a:solidFill>
              </a:rPr>
              <a:t xml:space="preserve"> –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63A52-D53D-41D5-83B8-A7C248FD3534}"/>
              </a:ext>
            </a:extLst>
          </p:cNvPr>
          <p:cNvSpPr txBox="1"/>
          <p:nvPr/>
        </p:nvSpPr>
        <p:spPr>
          <a:xfrm>
            <a:off x="274320" y="3566160"/>
            <a:ext cx="4846320" cy="256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  <a:defRPr sz="1100" b="1">
                <a:solidFill>
                  <a:srgbClr val="002D72"/>
                </a:solidFill>
              </a:defRPr>
            </a:pPr>
            <a:r>
              <a:rPr lang="en-GB" b="1" dirty="0">
                <a:solidFill>
                  <a:srgbClr val="002D72"/>
                </a:solidFill>
              </a:rPr>
              <a:t>Suggestions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1. Tiered pricing for top 3 clients (10, 3, 2) to retain 47% share.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2. Incentivize Cash → Online shift (e.g. 0.1% cash fee rebate on digital).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85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3. Reduce Overseas fixed fee to $3 (match Competitor A) to grow 24% segment +$200k fees.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212080" y="777240"/>
          <a:ext cx="3749039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284200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1800" b="1">
                <a:solidFill>
                  <a:srgbClr val="002D72"/>
                </a:solidFill>
              </a:defRPr>
            </a:pPr>
            <a:r>
              <a:rPr lang="en-US" sz="2000" dirty="0"/>
              <a:t>Yoyo Card – Spending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9EC53-0127-B85F-C5FF-635AFFFBF462}"/>
              </a:ext>
            </a:extLst>
          </p:cNvPr>
          <p:cNvSpPr txBox="1"/>
          <p:nvPr/>
        </p:nvSpPr>
        <p:spPr>
          <a:xfrm>
            <a:off x="274320" y="777240"/>
            <a:ext cx="8595360" cy="21945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Total Spend: $124.15M | Top Clients 10+3+2 = $58.7M (47%) | Monthly peaks Jun ($31.5M) &amp; Dec ($18.5M) – seasonal QSR pattern. Cash dominates (51%) but zero-fee; shift to Online could add $300k+ fees.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3017520"/>
          <a:ext cx="85953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313418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1800" b="1">
                <a:solidFill>
                  <a:srgbClr val="002D72"/>
                </a:solidFill>
              </a:defRPr>
            </a:pPr>
            <a:r>
              <a:rPr lang="en-US" sz="2000" dirty="0"/>
              <a:t>Yoyo Card – Charge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274320" y="777240"/>
            <a:ext cx="8595360" cy="237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Current fees: $1.41M total (1.13% effective rate on $124.15M).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Annual Charge – $1,200/card (potential $12k from 10 clients; waiver for top clients to gain share).</a:t>
            </a:r>
            <a:r>
              <a:rPr lang="en-GB" dirty="0">
                <a:solidFill>
                  <a:srgbClr val="002D72"/>
                </a:solidFill>
              </a:rPr>
              <a:t xml:space="preserve"> –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Transaction Value Charge (%) – Domestic 0.5% (most competitive vs A 1%/B 5%); Overseas 3% (higher than A – room to reduce to 2.5% for +20% volume).</a:t>
            </a:r>
            <a:r>
              <a:rPr lang="en-GB" dirty="0">
                <a:solidFill>
                  <a:srgbClr val="002D72"/>
                </a:solidFill>
              </a:rPr>
              <a:t xml:space="preserve"> – 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3200400"/>
          <a:ext cx="859536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75534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00"/>
            <a:ext cx="0" cy="2560320"/>
          </a:xfrm>
        </p:spPr>
        <p:txBody>
          <a:bodyPr>
            <a:normAutofit/>
          </a:bodyPr>
          <a:lstStyle/>
          <a:p>
            <a:pPr>
              <a:defRPr sz="1800" b="1">
                <a:solidFill>
                  <a:srgbClr val="002D72"/>
                </a:solidFill>
              </a:defRPr>
            </a:pPr>
            <a:r>
              <a:rPr lang="en-US" sz="2000" dirty="0"/>
              <a:t>Yoyo Card – Charge Insights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274320" y="777240"/>
            <a:ext cx="8595360" cy="5303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  <a:defRPr sz="95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Citi leads on domestic fees (0.5%+$0.10 vs A 1%+$0.05 / B 5%+$0.20) – strong for Local volume. Overseas fixed $5 is premium vs A $2.50.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95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Fixed fee per transaction – Domestic $0.10 (competitive); Overseas $5 (can reduce to $3 to match A, gaining 15-20% Overseas volume = +$150k fees).</a:t>
            </a:r>
            <a:r>
              <a:rPr lang="en-GB" dirty="0">
                <a:solidFill>
                  <a:srgbClr val="002D72"/>
                </a:solidFill>
              </a:rPr>
              <a:t xml:space="preserve">– 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950">
                <a:solidFill>
                  <a:srgbClr val="333333"/>
                </a:solidFill>
                <a:latin typeface="Calibri"/>
              </a:defRPr>
            </a:pPr>
            <a:r>
              <a:rPr lang="en-GB" b="1" dirty="0">
                <a:solidFill>
                  <a:srgbClr val="002D72"/>
                </a:solidFill>
              </a:rPr>
              <a:t>Cash withdrawal fees – $0 (vs A $2.50 / B $5). Opportunity: Add $1 cash fee or rebate to push 51% Cash volume to fee-generating Online (+$250k).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950">
                <a:solidFill>
                  <a:srgbClr val="333333"/>
                </a:solidFill>
                <a:latin typeface="Calibri"/>
              </a:defRPr>
            </a:pPr>
            <a:r>
              <a:rPr lang="en-GB" dirty="0">
                <a:solidFill>
                  <a:srgbClr val="002D72"/>
                </a:solidFill>
              </a:rPr>
              <a:t>Recommendation: Adjust Overseas fixed to $3 + promote digital payments. Projected +$400k fees (28% uplift) while improving competitiveness vs A/B.</a:t>
            </a:r>
          </a:p>
        </p:txBody>
      </p:sp>
    </p:spTree>
    <p:extLst>
      <p:ext uri="{BB962C8B-B14F-4D97-AF65-F5344CB8AC3E}">
        <p14:creationId xmlns:p14="http://schemas.microsoft.com/office/powerpoint/2010/main" val="27258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0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71099</TotalTime>
  <Words>134</Words>
  <Application>Microsoft Macintosh PowerPoint</Application>
  <PresentationFormat>Widescreen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Amplitude Light</vt:lpstr>
      <vt:lpstr>Arial</vt:lpstr>
      <vt:lpstr>Calibri</vt:lpstr>
      <vt:lpstr>Office Theme</vt:lpstr>
      <vt:lpstr>PowerPoint Presentation</vt:lpstr>
      <vt:lpstr>Yoyo Card – Corporate Transaction Insights</vt:lpstr>
      <vt:lpstr>Yoyo Card – Spending Insights</vt:lpstr>
      <vt:lpstr>Yoyo Card – Charge Insights</vt:lpstr>
      <vt:lpstr>Yoyo Card – Charge Insights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5</cp:revision>
  <cp:lastPrinted>2017-10-03T14:47:21Z</cp:lastPrinted>
  <dcterms:created xsi:type="dcterms:W3CDTF">2015-07-20T16:22:45Z</dcterms:created>
  <dcterms:modified xsi:type="dcterms:W3CDTF">2023-03-17T14:40:38Z</dcterms:modified>
</cp:coreProperties>
</file>